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2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 t="-45000" b="-4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41000" y="170848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7200" dirty="0">
                <a:solidFill>
                  <a:srgbClr val="201B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AI-Enabled Email Grievance Management System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7741000" y="477228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An Automated Solution for Processing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Institutional Grievance Emails</a:t>
            </a:r>
            <a:endParaRPr lang="en-US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9087D9-FDB1-AE51-1E1B-118BBC2921BE}"/>
              </a:ext>
            </a:extLst>
          </p:cNvPr>
          <p:cNvSpPr/>
          <p:nvPr/>
        </p:nvSpPr>
        <p:spPr>
          <a:xfrm>
            <a:off x="12849726" y="7688179"/>
            <a:ext cx="1660358" cy="541421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33BB83-4AB7-3793-D40C-97C95FDF0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21" y="1708484"/>
            <a:ext cx="7315200" cy="4114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6CC484C-89BE-AA76-5230-69A992411100}"/>
              </a:ext>
            </a:extLst>
          </p:cNvPr>
          <p:cNvSpPr/>
          <p:nvPr/>
        </p:nvSpPr>
        <p:spPr>
          <a:xfrm>
            <a:off x="769434" y="323385"/>
            <a:ext cx="7402394" cy="15388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1270397" y="1102400"/>
            <a:ext cx="4380309" cy="547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6600" dirty="0">
                <a:solidFill>
                  <a:srgbClr val="201B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endParaRPr lang="en-US" sz="6600" dirty="0"/>
          </a:p>
        </p:txBody>
      </p:sp>
      <p:sp>
        <p:nvSpPr>
          <p:cNvPr id="6" name="Shape 3"/>
          <p:cNvSpPr/>
          <p:nvPr/>
        </p:nvSpPr>
        <p:spPr>
          <a:xfrm>
            <a:off x="7753775" y="2232660"/>
            <a:ext cx="5158017" cy="2251922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84852" y="2232660"/>
            <a:ext cx="68923" cy="2251922"/>
          </a:xfrm>
          <a:prstGeom prst="roundRect">
            <a:avLst>
              <a:gd name="adj" fmla="val 28742"/>
            </a:avLst>
          </a:prstGeom>
          <a:solidFill>
            <a:srgbClr val="3E2513"/>
          </a:solidFill>
          <a:ln/>
        </p:spPr>
      </p:sp>
      <p:sp>
        <p:nvSpPr>
          <p:cNvPr id="8" name="Text 5"/>
          <p:cNvSpPr/>
          <p:nvPr/>
        </p:nvSpPr>
        <p:spPr>
          <a:xfrm>
            <a:off x="7991891" y="2555868"/>
            <a:ext cx="2190155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800" b="1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Volume Overload</a:t>
            </a:r>
            <a:endParaRPr lang="en-US" sz="2800" b="1" dirty="0"/>
          </a:p>
        </p:txBody>
      </p:sp>
      <p:sp>
        <p:nvSpPr>
          <p:cNvPr id="9" name="Text 6"/>
          <p:cNvSpPr/>
          <p:nvPr/>
        </p:nvSpPr>
        <p:spPr>
          <a:xfrm>
            <a:off x="7991891" y="3033330"/>
            <a:ext cx="4859596" cy="993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Large volumes of unstructured emails with attachments require manual parsing, consuming excessive administrative time and resources.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1347627" y="5305166"/>
            <a:ext cx="5153536" cy="2232007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70397" y="5305167"/>
            <a:ext cx="77230" cy="2232006"/>
          </a:xfrm>
          <a:prstGeom prst="roundRect">
            <a:avLst>
              <a:gd name="adj" fmla="val 28742"/>
            </a:avLst>
          </a:prstGeom>
          <a:solidFill>
            <a:srgbClr val="3E2513"/>
          </a:solidFill>
          <a:ln/>
        </p:spPr>
      </p:sp>
      <p:sp>
        <p:nvSpPr>
          <p:cNvPr id="12" name="Text 9"/>
          <p:cNvSpPr/>
          <p:nvPr/>
        </p:nvSpPr>
        <p:spPr>
          <a:xfrm>
            <a:off x="1484786" y="5664327"/>
            <a:ext cx="2190155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800" b="1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Poor Tracking</a:t>
            </a:r>
            <a:endParaRPr lang="en-US" sz="2800" b="1" dirty="0"/>
          </a:p>
        </p:txBody>
      </p:sp>
      <p:sp>
        <p:nvSpPr>
          <p:cNvPr id="13" name="Text 10"/>
          <p:cNvSpPr/>
          <p:nvPr/>
        </p:nvSpPr>
        <p:spPr>
          <a:xfrm>
            <a:off x="1484786" y="6082738"/>
            <a:ext cx="4893712" cy="993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Follow-ups lack systematic linkage to original grievances, resulting in lost threads and inconsistent response timelines.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7707712" y="5305167"/>
            <a:ext cx="5204080" cy="2232006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76151" y="5305167"/>
            <a:ext cx="63121" cy="2232006"/>
          </a:xfrm>
          <a:prstGeom prst="roundRect">
            <a:avLst>
              <a:gd name="adj" fmla="val 28742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3"/>
          <p:cNvSpPr/>
          <p:nvPr/>
        </p:nvSpPr>
        <p:spPr>
          <a:xfrm>
            <a:off x="7974292" y="5626112"/>
            <a:ext cx="2893079" cy="35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800" b="1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Fragmentation</a:t>
            </a:r>
            <a:endParaRPr lang="en-US" sz="2800" b="1" dirty="0"/>
          </a:p>
        </p:txBody>
      </p:sp>
      <p:sp>
        <p:nvSpPr>
          <p:cNvPr id="17" name="Text 14"/>
          <p:cNvSpPr/>
          <p:nvPr/>
        </p:nvSpPr>
        <p:spPr>
          <a:xfrm>
            <a:off x="7974292" y="6082738"/>
            <a:ext cx="4590392" cy="1271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Grievance status information remains scattered across individual emails without consolidated visibility or reporting capability.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243639-A947-D414-EA73-9C1FB7BA2C0C}"/>
              </a:ext>
            </a:extLst>
          </p:cNvPr>
          <p:cNvSpPr/>
          <p:nvPr/>
        </p:nvSpPr>
        <p:spPr>
          <a:xfrm>
            <a:off x="12885821" y="7741920"/>
            <a:ext cx="1744579" cy="487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D092F184-391E-3AD4-90AA-A85ED16246FE}"/>
              </a:ext>
            </a:extLst>
          </p:cNvPr>
          <p:cNvSpPr/>
          <p:nvPr/>
        </p:nvSpPr>
        <p:spPr>
          <a:xfrm>
            <a:off x="1347626" y="2232660"/>
            <a:ext cx="5153536" cy="2251922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2" name="Text 1"/>
          <p:cNvSpPr/>
          <p:nvPr/>
        </p:nvSpPr>
        <p:spPr>
          <a:xfrm>
            <a:off x="1476689" y="2603585"/>
            <a:ext cx="4561712" cy="390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800" b="1" dirty="0">
                <a:solidFill>
                  <a:srgbClr val="201B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Processing Challenges</a:t>
            </a:r>
            <a:endParaRPr lang="en-US" sz="2800" b="1" dirty="0"/>
          </a:p>
        </p:txBody>
      </p:sp>
      <p:sp>
        <p:nvSpPr>
          <p:cNvPr id="23" name="Text 2"/>
          <p:cNvSpPr/>
          <p:nvPr/>
        </p:nvSpPr>
        <p:spPr>
          <a:xfrm>
            <a:off x="1484786" y="3065634"/>
            <a:ext cx="5272854" cy="1418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Government-aided colleges submit grievances through unstructured email channels, creating significant operational bottlenecks in the existing manual system.</a:t>
            </a:r>
            <a:endParaRPr lang="en-US" dirty="0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9E039660-9547-C048-30F9-5F515519EFCE}"/>
              </a:ext>
            </a:extLst>
          </p:cNvPr>
          <p:cNvSpPr/>
          <p:nvPr/>
        </p:nvSpPr>
        <p:spPr>
          <a:xfrm>
            <a:off x="1270397" y="2232660"/>
            <a:ext cx="77229" cy="2251922"/>
          </a:xfrm>
          <a:prstGeom prst="roundRect">
            <a:avLst>
              <a:gd name="adj" fmla="val 28742"/>
            </a:avLst>
          </a:prstGeom>
          <a:solidFill>
            <a:srgbClr val="3E2513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089" y="693777"/>
            <a:ext cx="5107781" cy="638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6600" dirty="0">
                <a:solidFill>
                  <a:srgbClr val="201B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Objectives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15089" y="1700213"/>
            <a:ext cx="13200221" cy="310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The system addresses operational inefficiencies through targeted automation and intelligent processing capabilities.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5089" y="2217777"/>
            <a:ext cx="6508075" cy="2566988"/>
          </a:xfrm>
          <a:prstGeom prst="roundRect">
            <a:avLst>
              <a:gd name="adj" fmla="val 1194"/>
            </a:avLst>
          </a:prstGeom>
          <a:solidFill>
            <a:srgbClr val="F9F7F7"/>
          </a:solidFill>
          <a:ln/>
        </p:spPr>
      </p:sp>
      <p:sp>
        <p:nvSpPr>
          <p:cNvPr id="5" name="Shape 3"/>
          <p:cNvSpPr/>
          <p:nvPr/>
        </p:nvSpPr>
        <p:spPr>
          <a:xfrm>
            <a:off x="919401" y="2422088"/>
            <a:ext cx="612934" cy="612934"/>
          </a:xfrm>
          <a:prstGeom prst="roundRect">
            <a:avLst>
              <a:gd name="adj" fmla="val 14916917"/>
            </a:avLst>
          </a:prstGeom>
          <a:solidFill>
            <a:srgbClr val="3E251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7993" y="2590562"/>
            <a:ext cx="275749" cy="2757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9401" y="3218974"/>
            <a:ext cx="2656403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Ingestion</a:t>
            </a:r>
            <a:endParaRPr lang="en-US" sz="2000" b="1" dirty="0"/>
          </a:p>
        </p:txBody>
      </p:sp>
      <p:sp>
        <p:nvSpPr>
          <p:cNvPr id="8" name="Text 5"/>
          <p:cNvSpPr/>
          <p:nvPr/>
        </p:nvSpPr>
        <p:spPr>
          <a:xfrm>
            <a:off x="919401" y="3648551"/>
            <a:ext cx="6099453" cy="62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Parse archived EML files and extract complete email metadata, body content, and attachment data systematically.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07116" y="2217777"/>
            <a:ext cx="6508194" cy="2566988"/>
          </a:xfrm>
          <a:prstGeom prst="roundRect">
            <a:avLst>
              <a:gd name="adj" fmla="val 1194"/>
            </a:avLst>
          </a:prstGeom>
          <a:solidFill>
            <a:srgbClr val="F9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7611428" y="2422088"/>
            <a:ext cx="612934" cy="612934"/>
          </a:xfrm>
          <a:prstGeom prst="roundRect">
            <a:avLst>
              <a:gd name="adj" fmla="val 14916917"/>
            </a:avLst>
          </a:prstGeom>
          <a:solidFill>
            <a:srgbClr val="3E251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0020" y="2590562"/>
            <a:ext cx="275749" cy="2757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11428" y="3218974"/>
            <a:ext cx="3067050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Intelligent Classification</a:t>
            </a:r>
            <a:endParaRPr lang="en-US" sz="2000" b="1" dirty="0"/>
          </a:p>
        </p:txBody>
      </p:sp>
      <p:sp>
        <p:nvSpPr>
          <p:cNvPr id="13" name="Text 9"/>
          <p:cNvSpPr/>
          <p:nvPr/>
        </p:nvSpPr>
        <p:spPr>
          <a:xfrm>
            <a:off x="7611428" y="3648551"/>
            <a:ext cx="6099572" cy="931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Assign grievances to predefined categories—Suspension, FIR, Examination, Information, or Miscellaneous—for structured routing.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15089" y="4968716"/>
            <a:ext cx="6508075" cy="2566988"/>
          </a:xfrm>
          <a:prstGeom prst="roundRect">
            <a:avLst>
              <a:gd name="adj" fmla="val 1194"/>
            </a:avLst>
          </a:prstGeom>
          <a:solidFill>
            <a:srgbClr val="F9F7F7"/>
          </a:solidFill>
          <a:ln/>
        </p:spPr>
      </p:sp>
      <p:sp>
        <p:nvSpPr>
          <p:cNvPr id="15" name="Shape 11"/>
          <p:cNvSpPr/>
          <p:nvPr/>
        </p:nvSpPr>
        <p:spPr>
          <a:xfrm>
            <a:off x="919401" y="5173028"/>
            <a:ext cx="612934" cy="612934"/>
          </a:xfrm>
          <a:prstGeom prst="roundRect">
            <a:avLst>
              <a:gd name="adj" fmla="val 14916917"/>
            </a:avLst>
          </a:prstGeom>
          <a:solidFill>
            <a:srgbClr val="3E251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7993" y="5341501"/>
            <a:ext cx="275749" cy="2757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9401" y="5969913"/>
            <a:ext cx="2554486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Follow-Up Detection</a:t>
            </a:r>
            <a:endParaRPr lang="en-US" sz="2000" b="1" dirty="0"/>
          </a:p>
        </p:txBody>
      </p:sp>
      <p:sp>
        <p:nvSpPr>
          <p:cNvPr id="18" name="Text 13"/>
          <p:cNvSpPr/>
          <p:nvPr/>
        </p:nvSpPr>
        <p:spPr>
          <a:xfrm>
            <a:off x="919401" y="6399490"/>
            <a:ext cx="6099453" cy="931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Identify email threads using sender identity and message headers, maintaining follow-up counts and linkage automatically.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407116" y="4968716"/>
            <a:ext cx="6508194" cy="2566988"/>
          </a:xfrm>
          <a:prstGeom prst="roundRect">
            <a:avLst>
              <a:gd name="adj" fmla="val 1194"/>
            </a:avLst>
          </a:prstGeom>
          <a:solidFill>
            <a:srgbClr val="F9F7F7"/>
          </a:solidFill>
          <a:ln/>
        </p:spPr>
      </p:sp>
      <p:sp>
        <p:nvSpPr>
          <p:cNvPr id="20" name="Shape 15"/>
          <p:cNvSpPr/>
          <p:nvPr/>
        </p:nvSpPr>
        <p:spPr>
          <a:xfrm>
            <a:off x="7611428" y="5173028"/>
            <a:ext cx="612934" cy="612934"/>
          </a:xfrm>
          <a:prstGeom prst="roundRect">
            <a:avLst>
              <a:gd name="adj" fmla="val 14916917"/>
            </a:avLst>
          </a:prstGeom>
          <a:solidFill>
            <a:srgbClr val="3E251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80020" y="5341501"/>
            <a:ext cx="275749" cy="2757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11428" y="5969913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Structured Output</a:t>
            </a:r>
            <a:endParaRPr lang="en-US" sz="2000" b="1" dirty="0"/>
          </a:p>
        </p:txBody>
      </p:sp>
      <p:sp>
        <p:nvSpPr>
          <p:cNvPr id="23" name="Text 17"/>
          <p:cNvSpPr/>
          <p:nvPr/>
        </p:nvSpPr>
        <p:spPr>
          <a:xfrm>
            <a:off x="7611428" y="6399490"/>
            <a:ext cx="6099572" cy="62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Generate comprehensive Excel-based grievance database enabling filtering, sorting, and consolidated status reporting.</a:t>
            </a:r>
            <a:endParaRPr lang="en-US" sz="16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153888-CC61-9633-7F0B-72AA29D9303B}"/>
              </a:ext>
            </a:extLst>
          </p:cNvPr>
          <p:cNvSpPr/>
          <p:nvPr/>
        </p:nvSpPr>
        <p:spPr>
          <a:xfrm>
            <a:off x="12801600" y="7724274"/>
            <a:ext cx="1828800" cy="50532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CCE3F485-9753-BA5F-FBCA-D75B4569DF4C}"/>
              </a:ext>
            </a:extLst>
          </p:cNvPr>
          <p:cNvSpPr/>
          <p:nvPr/>
        </p:nvSpPr>
        <p:spPr>
          <a:xfrm>
            <a:off x="12741442" y="7676147"/>
            <a:ext cx="1888958" cy="4692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386AC0D-AC93-15AF-1F16-AD0CA5F52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9526"/>
            <a:ext cx="6497053" cy="819054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600EFDD-35B2-54B0-D4D8-19C00196CD43}"/>
              </a:ext>
            </a:extLst>
          </p:cNvPr>
          <p:cNvSpPr txBox="1"/>
          <p:nvPr/>
        </p:nvSpPr>
        <p:spPr>
          <a:xfrm>
            <a:off x="300789" y="818147"/>
            <a:ext cx="6497053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/>
              <a:t>System Architecture:</a:t>
            </a:r>
          </a:p>
          <a:p>
            <a:endParaRPr lang="en-US" sz="32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system collects citizen grievance emails (including attachments) through an official email inbox.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br>
              <a:rPr lang="en-US" dirty="0"/>
            </a:br>
            <a:r>
              <a:rPr lang="en-US" dirty="0"/>
              <a:t>An AI processing hub reads, extracts, classifies, and analyzes email content using OCR, language processing, and intent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br>
              <a:rPr lang="en-US" dirty="0"/>
            </a:br>
            <a:r>
              <a:rPr lang="en-US" dirty="0"/>
              <a:t>The system identifies fresh and follow-up emails, stores data in a structured grievance database, and generates reply suggestions.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br>
              <a:rPr lang="en-US" dirty="0"/>
            </a:br>
            <a:r>
              <a:rPr lang="en-US" dirty="0"/>
              <a:t>An administrative dashboard allows officials to monitor grievances, track pending cases, view attachments, and send manual replies.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br>
              <a:rPr lang="en-US" dirty="0"/>
            </a:br>
            <a:r>
              <a:rPr lang="en-US" dirty="0"/>
              <a:t>A chatbot and analytics module provide quick insights and continuously improve classification and response assistance.</a:t>
            </a:r>
            <a:endParaRPr lang="en-US" u="sng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">
            <a:extLst>
              <a:ext uri="{FF2B5EF4-FFF2-40B4-BE49-F238E27FC236}">
                <a16:creationId xmlns:a16="http://schemas.microsoft.com/office/drawing/2014/main" id="{251FD162-4FE2-F189-1CE7-668235D22BC2}"/>
              </a:ext>
            </a:extLst>
          </p:cNvPr>
          <p:cNvSpPr/>
          <p:nvPr/>
        </p:nvSpPr>
        <p:spPr>
          <a:xfrm>
            <a:off x="7714337" y="5290194"/>
            <a:ext cx="5518443" cy="2566988"/>
          </a:xfrm>
          <a:prstGeom prst="roundRect">
            <a:avLst>
              <a:gd name="adj" fmla="val 1194"/>
            </a:avLst>
          </a:prstGeom>
          <a:solidFill>
            <a:srgbClr val="F9F7F7"/>
          </a:solidFill>
          <a:ln/>
        </p:spPr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67FF2C76-8316-E56F-FB56-21FDF262B08F}"/>
              </a:ext>
            </a:extLst>
          </p:cNvPr>
          <p:cNvSpPr/>
          <p:nvPr/>
        </p:nvSpPr>
        <p:spPr>
          <a:xfrm>
            <a:off x="7714338" y="2505734"/>
            <a:ext cx="5518443" cy="2566988"/>
          </a:xfrm>
          <a:prstGeom prst="roundRect">
            <a:avLst>
              <a:gd name="adj" fmla="val 1194"/>
            </a:avLst>
          </a:prstGeom>
          <a:solidFill>
            <a:srgbClr val="F9F7F7"/>
          </a:solidFill>
          <a:ln/>
        </p:spPr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90722FCD-CF9B-96D4-E8A5-95D12D8583D2}"/>
              </a:ext>
            </a:extLst>
          </p:cNvPr>
          <p:cNvSpPr/>
          <p:nvPr/>
        </p:nvSpPr>
        <p:spPr>
          <a:xfrm>
            <a:off x="715088" y="5290194"/>
            <a:ext cx="5518443" cy="2566988"/>
          </a:xfrm>
          <a:prstGeom prst="roundRect">
            <a:avLst>
              <a:gd name="adj" fmla="val 1194"/>
            </a:avLst>
          </a:prstGeom>
          <a:solidFill>
            <a:srgbClr val="F9F7F7"/>
          </a:solidFill>
          <a:ln/>
        </p:spPr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3BF4E84B-BD81-D8F7-77E1-29EEB4FE4829}"/>
              </a:ext>
            </a:extLst>
          </p:cNvPr>
          <p:cNvSpPr/>
          <p:nvPr/>
        </p:nvSpPr>
        <p:spPr>
          <a:xfrm>
            <a:off x="715089" y="2505734"/>
            <a:ext cx="5518443" cy="2566988"/>
          </a:xfrm>
          <a:prstGeom prst="roundRect">
            <a:avLst>
              <a:gd name="adj" fmla="val 1194"/>
            </a:avLst>
          </a:prstGeom>
          <a:solidFill>
            <a:srgbClr val="F9F7F7"/>
          </a:solidFill>
          <a:ln/>
        </p:spPr>
      </p:sp>
      <p:sp>
        <p:nvSpPr>
          <p:cNvPr id="2" name="Text 0"/>
          <p:cNvSpPr/>
          <p:nvPr/>
        </p:nvSpPr>
        <p:spPr>
          <a:xfrm>
            <a:off x="741640" y="842367"/>
            <a:ext cx="7799546" cy="662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6600" dirty="0">
                <a:solidFill>
                  <a:srgbClr val="201B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Grievance Classification Logic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41640" y="1900476"/>
            <a:ext cx="13147119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Rule-based categorization ensures consistent grievance routing while maintaining audit trails for all classification decisions.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789211" y="2790047"/>
            <a:ext cx="3165991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Suspension/Disciplinary</a:t>
            </a:r>
            <a:endParaRPr lang="en-US" sz="3200" b="1" dirty="0"/>
          </a:p>
        </p:txBody>
      </p:sp>
      <p:sp>
        <p:nvSpPr>
          <p:cNvPr id="5" name="Text 3"/>
          <p:cNvSpPr/>
          <p:nvPr/>
        </p:nvSpPr>
        <p:spPr>
          <a:xfrm>
            <a:off x="1000184" y="3338632"/>
            <a:ext cx="3955018" cy="98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Actions against employees or staff members requiring administrative intervention.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8057956" y="2790047"/>
            <a:ext cx="2648903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FIR/Arrest</a:t>
            </a:r>
            <a:endParaRPr lang="en-US" sz="3200" b="1" dirty="0"/>
          </a:p>
        </p:txBody>
      </p:sp>
      <p:sp>
        <p:nvSpPr>
          <p:cNvPr id="9" name="Text 5"/>
          <p:cNvSpPr/>
          <p:nvPr/>
        </p:nvSpPr>
        <p:spPr>
          <a:xfrm>
            <a:off x="8062018" y="3338632"/>
            <a:ext cx="3955137" cy="98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Police complaints, arrests, or criminal proceedings involving institutional members.</a:t>
            </a: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8057956" y="5635822"/>
            <a:ext cx="2987159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Semester/Examination</a:t>
            </a:r>
            <a:endParaRPr lang="en-US" sz="3200" b="1" dirty="0"/>
          </a:p>
        </p:txBody>
      </p:sp>
      <p:sp>
        <p:nvSpPr>
          <p:cNvPr id="13" name="Text 7"/>
          <p:cNvSpPr/>
          <p:nvPr/>
        </p:nvSpPr>
        <p:spPr>
          <a:xfrm>
            <a:off x="8057956" y="6182980"/>
            <a:ext cx="3849172" cy="98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Academic calendar issues, exam schedules, results, or evaluation concerns.</a:t>
            </a:r>
            <a:endParaRPr lang="en-US" dirty="0"/>
          </a:p>
        </p:txBody>
      </p:sp>
      <p:sp>
        <p:nvSpPr>
          <p:cNvPr id="20" name="Text 10"/>
          <p:cNvSpPr/>
          <p:nvPr/>
        </p:nvSpPr>
        <p:spPr>
          <a:xfrm>
            <a:off x="715088" y="5635823"/>
            <a:ext cx="2648903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Miscellaneous</a:t>
            </a:r>
            <a:endParaRPr lang="en-US" sz="3200" b="1" dirty="0"/>
          </a:p>
        </p:txBody>
      </p:sp>
      <p:sp>
        <p:nvSpPr>
          <p:cNvPr id="21" name="Text 11"/>
          <p:cNvSpPr/>
          <p:nvPr/>
        </p:nvSpPr>
        <p:spPr>
          <a:xfrm>
            <a:off x="1000184" y="6184408"/>
            <a:ext cx="3955018" cy="98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Reserved strictly for uncategorizable grievances after all classification rules exhausted.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79A135-9753-98E1-A63D-C62220C798C9}"/>
              </a:ext>
            </a:extLst>
          </p:cNvPr>
          <p:cNvSpPr/>
          <p:nvPr/>
        </p:nvSpPr>
        <p:spPr>
          <a:xfrm>
            <a:off x="12837695" y="7796463"/>
            <a:ext cx="1684421" cy="35824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7">
            <a:extLst>
              <a:ext uri="{FF2B5EF4-FFF2-40B4-BE49-F238E27FC236}">
                <a16:creationId xmlns:a16="http://schemas.microsoft.com/office/drawing/2014/main" id="{062EFFA5-1D22-C5A7-A81B-D7C479020054}"/>
              </a:ext>
            </a:extLst>
          </p:cNvPr>
          <p:cNvSpPr/>
          <p:nvPr/>
        </p:nvSpPr>
        <p:spPr>
          <a:xfrm>
            <a:off x="990686" y="4907074"/>
            <a:ext cx="7354230" cy="2251922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A0F8E4D2-491B-7C25-7D49-CABF62D5C745}"/>
              </a:ext>
            </a:extLst>
          </p:cNvPr>
          <p:cNvSpPr/>
          <p:nvPr/>
        </p:nvSpPr>
        <p:spPr>
          <a:xfrm>
            <a:off x="990686" y="1985222"/>
            <a:ext cx="7354230" cy="2251922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781883" y="808920"/>
            <a:ext cx="6460927" cy="506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6600" dirty="0">
                <a:solidFill>
                  <a:srgbClr val="201B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Follow-Up Detection Mechanism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214263" y="2617592"/>
            <a:ext cx="2122884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4800" b="1" dirty="0">
                <a:solidFill>
                  <a:srgbClr val="201B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Thread Identification</a:t>
            </a:r>
            <a:endParaRPr lang="en-US" sz="4800" b="1" dirty="0"/>
          </a:p>
        </p:txBody>
      </p:sp>
      <p:sp>
        <p:nvSpPr>
          <p:cNvPr id="4" name="Text 2"/>
          <p:cNvSpPr/>
          <p:nvPr/>
        </p:nvSpPr>
        <p:spPr>
          <a:xfrm>
            <a:off x="1214263" y="3036964"/>
            <a:ext cx="7130653" cy="72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The system analyzes email headers including Message-ID, In-Reply-To, and References fields to establish conversation threads. Sender email addresses provide additional linkage verification.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14263" y="5458094"/>
            <a:ext cx="2025848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4800" b="1" dirty="0">
                <a:solidFill>
                  <a:srgbClr val="201B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 Tracking</a:t>
            </a:r>
            <a:endParaRPr lang="en-US" sz="4800" b="1" dirty="0"/>
          </a:p>
        </p:txBody>
      </p:sp>
      <p:sp>
        <p:nvSpPr>
          <p:cNvPr id="6" name="Text 4"/>
          <p:cNvSpPr/>
          <p:nvPr/>
        </p:nvSpPr>
        <p:spPr>
          <a:xfrm>
            <a:off x="1214263" y="5880548"/>
            <a:ext cx="6806994" cy="97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Each grievance record maintains follow-up count and freshness status. First email marked as Fresh; subsequent replies automatically flagged as Follow-up with incrementing counter.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0AB651-62D4-3AB7-2488-76D50F037253}"/>
              </a:ext>
            </a:extLst>
          </p:cNvPr>
          <p:cNvSpPr/>
          <p:nvPr/>
        </p:nvSpPr>
        <p:spPr>
          <a:xfrm>
            <a:off x="12777537" y="7752398"/>
            <a:ext cx="1744579" cy="392981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FFF6D13-B244-CCFB-6D53-4E6C06DA9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297" y="1315293"/>
            <a:ext cx="5679103" cy="6830086"/>
          </a:xfrm>
          <a:prstGeom prst="rect">
            <a:avLst/>
          </a:prstGeom>
        </p:spPr>
      </p:pic>
      <p:sp>
        <p:nvSpPr>
          <p:cNvPr id="21" name="Shape 12">
            <a:extLst>
              <a:ext uri="{FF2B5EF4-FFF2-40B4-BE49-F238E27FC236}">
                <a16:creationId xmlns:a16="http://schemas.microsoft.com/office/drawing/2014/main" id="{84A9CE5F-95A0-0327-B11C-E6596EC3619E}"/>
              </a:ext>
            </a:extLst>
          </p:cNvPr>
          <p:cNvSpPr/>
          <p:nvPr/>
        </p:nvSpPr>
        <p:spPr>
          <a:xfrm>
            <a:off x="913457" y="1985222"/>
            <a:ext cx="77229" cy="2251922"/>
          </a:xfrm>
          <a:prstGeom prst="roundRect">
            <a:avLst>
              <a:gd name="adj" fmla="val 28742"/>
            </a:avLst>
          </a:prstGeom>
          <a:solidFill>
            <a:srgbClr val="3E2513"/>
          </a:solidFill>
          <a:ln/>
        </p:spPr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51F8DB42-3D36-12FF-DBF9-397C1BE0F676}"/>
              </a:ext>
            </a:extLst>
          </p:cNvPr>
          <p:cNvSpPr/>
          <p:nvPr/>
        </p:nvSpPr>
        <p:spPr>
          <a:xfrm>
            <a:off x="918420" y="4907074"/>
            <a:ext cx="77229" cy="2251922"/>
          </a:xfrm>
          <a:prstGeom prst="roundRect">
            <a:avLst>
              <a:gd name="adj" fmla="val 28742"/>
            </a:avLst>
          </a:prstGeom>
          <a:solidFill>
            <a:srgbClr val="3E2513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2321" y="683775"/>
            <a:ext cx="8620482" cy="52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6000" dirty="0">
                <a:solidFill>
                  <a:srgbClr val="201B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Attachment Handling &amp; Data Structuring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699231" y="1645473"/>
            <a:ext cx="16930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8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97290" y="1931954"/>
            <a:ext cx="5781556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6" name="Text 3"/>
          <p:cNvSpPr/>
          <p:nvPr/>
        </p:nvSpPr>
        <p:spPr>
          <a:xfrm>
            <a:off x="699231" y="2263442"/>
            <a:ext cx="2117646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4000" b="1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 Detection</a:t>
            </a:r>
            <a:endParaRPr lang="en-US" sz="4000" b="1" dirty="0"/>
          </a:p>
        </p:txBody>
      </p:sp>
      <p:sp>
        <p:nvSpPr>
          <p:cNvPr id="7" name="Text 4"/>
          <p:cNvSpPr/>
          <p:nvPr/>
        </p:nvSpPr>
        <p:spPr>
          <a:xfrm>
            <a:off x="697290" y="2717904"/>
            <a:ext cx="4997454" cy="758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Identifies PDF, DOCX, XLSX, or TXT file types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before processing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209115" y="1645472"/>
            <a:ext cx="16930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8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7209115" y="1920524"/>
            <a:ext cx="5781556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0" name="Text 7"/>
          <p:cNvSpPr/>
          <p:nvPr/>
        </p:nvSpPr>
        <p:spPr>
          <a:xfrm>
            <a:off x="7209115" y="2259078"/>
            <a:ext cx="2117646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4000" b="1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 Extraction</a:t>
            </a:r>
            <a:endParaRPr lang="en-US" sz="4000" b="1" dirty="0"/>
          </a:p>
        </p:txBody>
      </p:sp>
      <p:sp>
        <p:nvSpPr>
          <p:cNvPr id="11" name="Text 8"/>
          <p:cNvSpPr/>
          <p:nvPr/>
        </p:nvSpPr>
        <p:spPr>
          <a:xfrm>
            <a:off x="7209115" y="2716887"/>
            <a:ext cx="5781556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Uses appropriate libraries to extract plain text from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each format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99231" y="3771828"/>
            <a:ext cx="16930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8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699231" y="4057209"/>
            <a:ext cx="5781556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4" name="Text 11"/>
          <p:cNvSpPr/>
          <p:nvPr/>
        </p:nvSpPr>
        <p:spPr>
          <a:xfrm>
            <a:off x="699231" y="4383183"/>
            <a:ext cx="2117646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4000" b="1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Handling</a:t>
            </a:r>
            <a:endParaRPr lang="en-US" sz="4000" b="1" dirty="0"/>
          </a:p>
        </p:txBody>
      </p:sp>
      <p:sp>
        <p:nvSpPr>
          <p:cNvPr id="15" name="Text 12"/>
          <p:cNvSpPr/>
          <p:nvPr/>
        </p:nvSpPr>
        <p:spPr>
          <a:xfrm>
            <a:off x="701172" y="4837645"/>
            <a:ext cx="5781556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Skips corrupted or oversized files with error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logging for review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9114" y="3771828"/>
            <a:ext cx="16930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8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7209115" y="4057210"/>
            <a:ext cx="5781556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8" name="Text 15"/>
          <p:cNvSpPr/>
          <p:nvPr/>
        </p:nvSpPr>
        <p:spPr>
          <a:xfrm>
            <a:off x="7209114" y="4388495"/>
            <a:ext cx="2117646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4000" b="1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Consolidation</a:t>
            </a:r>
            <a:endParaRPr lang="en-US" sz="4000" b="1" dirty="0"/>
          </a:p>
        </p:txBody>
      </p:sp>
      <p:sp>
        <p:nvSpPr>
          <p:cNvPr id="19" name="Text 16"/>
          <p:cNvSpPr/>
          <p:nvPr/>
        </p:nvSpPr>
        <p:spPr>
          <a:xfrm>
            <a:off x="7209115" y="4838890"/>
            <a:ext cx="5781556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Combines email body with attachment content for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unified analysis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01172" y="5944066"/>
            <a:ext cx="327505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4000" dirty="0">
                <a:solidFill>
                  <a:srgbClr val="201B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Institute Name Resolution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701172" y="6515711"/>
            <a:ext cx="11689556" cy="1556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40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The system employs multi-level lookup: email domain mapping, body content analysis, attachment parsing, and manual fallback to ensure accurate institutional attribution.</a:t>
            </a:r>
            <a:endParaRPr lang="en-US" sz="2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2ED45E-0A7B-F98B-22CF-2EE0CD4F5776}"/>
              </a:ext>
            </a:extLst>
          </p:cNvPr>
          <p:cNvSpPr/>
          <p:nvPr/>
        </p:nvSpPr>
        <p:spPr>
          <a:xfrm>
            <a:off x="12849726" y="7700211"/>
            <a:ext cx="1672390" cy="47339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4576" y="928926"/>
            <a:ext cx="4493895" cy="56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6600" dirty="0">
                <a:solidFill>
                  <a:srgbClr val="201B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 &amp; Results</a:t>
            </a:r>
            <a:endParaRPr lang="en-US" sz="6600" dirty="0"/>
          </a:p>
        </p:txBody>
      </p:sp>
      <p:sp>
        <p:nvSpPr>
          <p:cNvPr id="8" name="Text 5"/>
          <p:cNvSpPr/>
          <p:nvPr/>
        </p:nvSpPr>
        <p:spPr>
          <a:xfrm>
            <a:off x="1113473" y="6287929"/>
            <a:ext cx="4015740" cy="593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4650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350+</a:t>
            </a:r>
            <a:endParaRPr lang="en-US" sz="4650" dirty="0"/>
          </a:p>
        </p:txBody>
      </p:sp>
      <p:sp>
        <p:nvSpPr>
          <p:cNvPr id="9" name="Text 6"/>
          <p:cNvSpPr/>
          <p:nvPr/>
        </p:nvSpPr>
        <p:spPr>
          <a:xfrm>
            <a:off x="1997869" y="7077670"/>
            <a:ext cx="2246948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Emails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13473" y="7443788"/>
            <a:ext cx="4015740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Real grievances processed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307211" y="6284109"/>
            <a:ext cx="4015740" cy="593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4650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4650" dirty="0"/>
          </a:p>
        </p:txBody>
      </p:sp>
      <p:sp>
        <p:nvSpPr>
          <p:cNvPr id="12" name="Text 9"/>
          <p:cNvSpPr/>
          <p:nvPr/>
        </p:nvSpPr>
        <p:spPr>
          <a:xfrm>
            <a:off x="6191607" y="7077670"/>
            <a:ext cx="2246948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Categories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307211" y="7443788"/>
            <a:ext cx="4015740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Classification types tested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500949" y="6322577"/>
            <a:ext cx="4015859" cy="593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4650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100%</a:t>
            </a:r>
            <a:endParaRPr lang="en-US" sz="4650" dirty="0"/>
          </a:p>
        </p:txBody>
      </p:sp>
      <p:sp>
        <p:nvSpPr>
          <p:cNvPr id="15" name="Text 12"/>
          <p:cNvSpPr/>
          <p:nvPr/>
        </p:nvSpPr>
        <p:spPr>
          <a:xfrm>
            <a:off x="10385346" y="7077670"/>
            <a:ext cx="2246948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Thread Detection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9500949" y="7443788"/>
            <a:ext cx="401585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Follow-up linkage verified</a:t>
            </a:r>
            <a:endParaRPr 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DAD5AF-2919-E98B-D528-EE307482194D}"/>
              </a:ext>
            </a:extLst>
          </p:cNvPr>
          <p:cNvSpPr/>
          <p:nvPr/>
        </p:nvSpPr>
        <p:spPr>
          <a:xfrm>
            <a:off x="12885821" y="7701558"/>
            <a:ext cx="1648326" cy="52804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539FEB32-A1F7-B631-CC40-3F5DB270C04E}"/>
              </a:ext>
            </a:extLst>
          </p:cNvPr>
          <p:cNvSpPr/>
          <p:nvPr/>
        </p:nvSpPr>
        <p:spPr>
          <a:xfrm>
            <a:off x="971805" y="2390230"/>
            <a:ext cx="5219802" cy="2909747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B3662C7F-9186-5062-16CF-ABC7021207FC}"/>
              </a:ext>
            </a:extLst>
          </p:cNvPr>
          <p:cNvSpPr/>
          <p:nvPr/>
        </p:nvSpPr>
        <p:spPr>
          <a:xfrm>
            <a:off x="1195382" y="3022600"/>
            <a:ext cx="2122884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4800" b="1" dirty="0">
                <a:solidFill>
                  <a:srgbClr val="201B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 Scope</a:t>
            </a:r>
            <a:endParaRPr lang="en-US" sz="4800" b="1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669C6CBD-4CC6-28C1-5896-041767070A9A}"/>
              </a:ext>
            </a:extLst>
          </p:cNvPr>
          <p:cNvSpPr/>
          <p:nvPr/>
        </p:nvSpPr>
        <p:spPr>
          <a:xfrm>
            <a:off x="1195383" y="3476207"/>
            <a:ext cx="4034600" cy="1891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System validated using </a:t>
            </a:r>
            <a:r>
              <a:rPr lang="en-US" b="1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350+ real grievance emails</a:t>
            </a:r>
            <a:r>
              <a:rPr lang="en-US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 collected from government sources, representing diverse grievance types and complexity levels.</a:t>
            </a:r>
            <a:endParaRPr lang="en-US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3D000F89-602B-0E91-5B72-A7F1BF699276}"/>
              </a:ext>
            </a:extLst>
          </p:cNvPr>
          <p:cNvSpPr/>
          <p:nvPr/>
        </p:nvSpPr>
        <p:spPr>
          <a:xfrm>
            <a:off x="894576" y="2390229"/>
            <a:ext cx="77229" cy="2909747"/>
          </a:xfrm>
          <a:prstGeom prst="roundRect">
            <a:avLst>
              <a:gd name="adj" fmla="val 28742"/>
            </a:avLst>
          </a:prstGeom>
          <a:solidFill>
            <a:srgbClr val="3E2513"/>
          </a:solidFill>
          <a:ln/>
        </p:spPr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133E220C-AFF0-A235-A6B0-8BBAA5F6DFEE}"/>
              </a:ext>
            </a:extLst>
          </p:cNvPr>
          <p:cNvSpPr/>
          <p:nvPr/>
        </p:nvSpPr>
        <p:spPr>
          <a:xfrm>
            <a:off x="7534650" y="2390229"/>
            <a:ext cx="5753087" cy="2909747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3CAA5FFB-2B7F-32F0-3A3A-30D8B8534FB6}"/>
              </a:ext>
            </a:extLst>
          </p:cNvPr>
          <p:cNvSpPr/>
          <p:nvPr/>
        </p:nvSpPr>
        <p:spPr>
          <a:xfrm>
            <a:off x="7653673" y="2895978"/>
            <a:ext cx="2122884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4800" b="1" dirty="0">
                <a:solidFill>
                  <a:srgbClr val="201B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Metrics</a:t>
            </a:r>
            <a:endParaRPr lang="en-US" sz="4800" b="1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7657E66A-9CE6-928F-A14E-7E883D3205D3}"/>
              </a:ext>
            </a:extLst>
          </p:cNvPr>
          <p:cNvSpPr/>
          <p:nvPr/>
        </p:nvSpPr>
        <p:spPr>
          <a:xfrm>
            <a:off x="7653674" y="3403045"/>
            <a:ext cx="5154920" cy="72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Classification accuracy, follow-up detection precision, and attachment handling reliability measured across test dataset.</a:t>
            </a:r>
            <a:endParaRPr lang="en-US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B4D02299-5C70-4C48-71AD-CCD8D715464C}"/>
              </a:ext>
            </a:extLst>
          </p:cNvPr>
          <p:cNvSpPr/>
          <p:nvPr/>
        </p:nvSpPr>
        <p:spPr>
          <a:xfrm>
            <a:off x="7457422" y="2401391"/>
            <a:ext cx="77229" cy="2898584"/>
          </a:xfrm>
          <a:prstGeom prst="roundRect">
            <a:avLst>
              <a:gd name="adj" fmla="val 28742"/>
            </a:avLst>
          </a:prstGeom>
          <a:solidFill>
            <a:srgbClr val="3E2513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0160"/>
            <a:ext cx="99521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600" dirty="0">
                <a:solidFill>
                  <a:srgbClr val="201B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&amp; Future Enhancements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793790" y="2442567"/>
            <a:ext cx="4196358" cy="3121462"/>
          </a:xfrm>
          <a:prstGeom prst="roundRect">
            <a:avLst>
              <a:gd name="adj" fmla="val 1090"/>
            </a:avLst>
          </a:prstGeom>
          <a:solidFill>
            <a:srgbClr val="F9F7F7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2669381"/>
            <a:ext cx="29575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Achievement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159800"/>
            <a:ext cx="37427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Successfully automated grievance email processing, reducing manual effort while improving tracking accuracy and response timeliness for government institutions.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442567"/>
            <a:ext cx="4196358" cy="3121462"/>
          </a:xfrm>
          <a:prstGeom prst="roundRect">
            <a:avLst>
              <a:gd name="adj" fmla="val 1090"/>
            </a:avLst>
          </a:prstGeom>
          <a:solidFill>
            <a:srgbClr val="F9F7F7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2669381"/>
            <a:ext cx="36039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Immediate Improvements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159800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Integration with email servers for real-time processing, database backend migration from Excel to SQL, and priority escalation workflows.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442567"/>
            <a:ext cx="4196358" cy="3121462"/>
          </a:xfrm>
          <a:prstGeom prst="roundRect">
            <a:avLst>
              <a:gd name="adj" fmla="val 1090"/>
            </a:avLst>
          </a:prstGeom>
          <a:solidFill>
            <a:srgbClr val="F9F7F7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26693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Long-term Vision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159800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Natural language processing for semantic classification, sentiment analysis for urgency detection, and automated response generation for routine enquiries.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932560"/>
            <a:ext cx="13042821" cy="35957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622363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E2513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Recommendation:</a:t>
            </a:r>
            <a:r>
              <a:rPr lang="en-US" sz="1750" dirty="0">
                <a:solidFill>
                  <a:srgbClr val="504C49"/>
                </a:solidFill>
                <a:latin typeface="Abadi" panose="020F0502020204030204" pitchFamily="34" charset="0"/>
                <a:ea typeface="Source Serif 4" pitchFamily="34" charset="-122"/>
                <a:cs typeface="Source Serif 4" pitchFamily="34" charset="-120"/>
              </a:rPr>
              <a:t> Deploy pilot implementation in selected government departments to validate operational impact before full-scale rollout across institutional networks.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6DF9F8-18E6-F080-332D-D5D1477CB768}"/>
              </a:ext>
            </a:extLst>
          </p:cNvPr>
          <p:cNvSpPr/>
          <p:nvPr/>
        </p:nvSpPr>
        <p:spPr>
          <a:xfrm>
            <a:off x="12789568" y="7628021"/>
            <a:ext cx="1756611" cy="52966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146</TotalTime>
  <Words>677</Words>
  <Application>Microsoft Office PowerPoint</Application>
  <PresentationFormat>Custom</PresentationFormat>
  <Paragraphs>94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Abadi</vt:lpstr>
      <vt:lpstr>Arial</vt:lpstr>
      <vt:lpstr>Calibri</vt:lpstr>
      <vt:lpstr>Platypi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SWAPNIL CHATTERJEE</dc:creator>
  <cp:lastModifiedBy>SWAPNIL CHATTERJEE</cp:lastModifiedBy>
  <cp:revision>7</cp:revision>
  <dcterms:created xsi:type="dcterms:W3CDTF">2026-02-09T19:10:45Z</dcterms:created>
  <dcterms:modified xsi:type="dcterms:W3CDTF">2026-02-10T08:04:48Z</dcterms:modified>
</cp:coreProperties>
</file>