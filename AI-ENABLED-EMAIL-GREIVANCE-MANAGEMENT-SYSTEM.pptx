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452" y="514350"/>
            <a:ext cx="2052117" cy="1104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9452" y="1694706"/>
            <a:ext cx="474523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929" y="514350"/>
            <a:ext cx="1489025" cy="1534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39929" y="2123852"/>
            <a:ext cx="26564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987772" y="2416150"/>
            <a:ext cx="7168381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ENABLED EMAIL GREIVANCE MANAGEMENT SYSTEM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209452" y="2821112"/>
            <a:ext cx="6725022" cy="64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 of Excellence on Data Science and Machine Learning, Department of IT &amp; Electronics</a:t>
            </a:r>
            <a:endParaRPr lang="en-US" sz="950" dirty="0"/>
          </a:p>
          <a:p>
            <a:pPr algn="ctr" indent="0" marL="0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endParaRPr lang="en-US" sz="950" dirty="0"/>
          </a:p>
          <a:p>
            <a:pPr algn="ctr"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Higher Education, Government of West Bengal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1209452" y="3540398"/>
            <a:ext cx="6725022" cy="1164134"/>
          </a:xfrm>
          <a:prstGeom prst="roundRect">
            <a:avLst>
              <a:gd name="adj" fmla="val 351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86398" y="3642568"/>
            <a:ext cx="1771055" cy="456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EDUCATION TEAM INTERNS  :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Anshu Nandi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962772" y="4126111"/>
            <a:ext cx="1218307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Debajit Guha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3. Aditya Ghosh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311622" y="4470797"/>
            <a:ext cx="652068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53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5079"/>
            <a:ext cx="51415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in the Current Grievance Handling Process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659136"/>
            <a:ext cx="4024015" cy="13085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8199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 &amp; Routing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126456"/>
            <a:ext cx="36261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email volumes overwhelm staff. No systematic categorization causes improper routing across grievance types.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92" y="1659136"/>
            <a:ext cx="4024089" cy="13085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60801" y="18199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 Blindness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60801" y="212645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emails treated equally. Urgent and VIP grievances — including Chief Minister directives — go unflagged.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109466"/>
            <a:ext cx="4024015" cy="13085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077" y="3270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Structured View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4077" y="3576786"/>
            <a:ext cx="36261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policy-backed auto-replies results in inconsistent, unverified, and non-compliant communication.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792" y="3109466"/>
            <a:ext cx="4024089" cy="13085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60801" y="32702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 Gaps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60801" y="3576786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automated reply generation, no NL query interface, and no attachment analysis — driving manual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434876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Timeline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940222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project progressed through distinct phases, marked by key meetings, deliverables, and strategic decisions to refine the AI-enabled grievance management system.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64782" y="1340272"/>
            <a:ext cx="14288" cy="336827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260652" y="1767260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4531258" y="1733736"/>
            <a:ext cx="81335" cy="81335"/>
          </a:xfrm>
          <a:prstGeom prst="roundRect">
            <a:avLst>
              <a:gd name="adj" fmla="val 351325"/>
            </a:avLst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827336" y="1340272"/>
            <a:ext cx="3419029" cy="868263"/>
          </a:xfrm>
          <a:prstGeom prst="roundRect">
            <a:avLst>
              <a:gd name="adj" fmla="val 525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9827" y="1453530"/>
            <a:ext cx="266327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1: Project Handover (March 2026)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0594" y="1672903"/>
            <a:ext cx="319251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handed over to Batch-V. Noted basic GUI, but a non-functional RAG pipeline requiring immediate attention.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57638" y="2386310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531258" y="2352787"/>
            <a:ext cx="81335" cy="81335"/>
          </a:xfrm>
          <a:prstGeom prst="roundRect">
            <a:avLst>
              <a:gd name="adj" fmla="val 351325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7487" y="1940570"/>
            <a:ext cx="3419103" cy="905768"/>
          </a:xfrm>
          <a:prstGeom prst="roundRect">
            <a:avLst>
              <a:gd name="adj" fmla="val 503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745" y="2053828"/>
            <a:ext cx="297083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2: Initial Setup &amp; Priority (March 2026)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10745" y="2273201"/>
            <a:ext cx="319258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 demonstrated, established email priority ranks, and agreed on keyword options and weekly meetings for rapid iteration.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60652" y="3006998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1258" y="2973474"/>
            <a:ext cx="81335" cy="81335"/>
          </a:xfrm>
          <a:prstGeom prst="roundRect">
            <a:avLst>
              <a:gd name="adj" fmla="val 351325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336" y="2476500"/>
            <a:ext cx="3419029" cy="1075283"/>
          </a:xfrm>
          <a:prstGeom prst="roundRect">
            <a:avLst>
              <a:gd name="adj" fmla="val 42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594" y="2589758"/>
            <a:ext cx="3192512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3: Categorization &amp; POC Refinement (April 2026)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0594" y="2978646"/>
            <a:ext cx="319251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Finalized 16 mail categories (CMO, RTI, SVMCM, etc.), set up common email ID, and stressed the need for attachment handling.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57638" y="3627686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1258" y="3594162"/>
            <a:ext cx="81335" cy="81335"/>
          </a:xfrm>
          <a:prstGeom prst="roundRect">
            <a:avLst>
              <a:gd name="adj" fmla="val 351325"/>
            </a:avLst>
          </a:prstGeom>
          <a:solidFill>
            <a:srgbClr val="4950BC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7487" y="3097188"/>
            <a:ext cx="3419103" cy="1075283"/>
          </a:xfrm>
          <a:prstGeom prst="roundRect">
            <a:avLst>
              <a:gd name="adj" fmla="val 42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745" y="3210446"/>
            <a:ext cx="3192587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4: Advanced AI Implementation (Late April 2026)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10745" y="3599334"/>
            <a:ext cx="319258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progress to higher education stakeholders. Identified critical tasks: Policy OCR and preventing LLM hallucination.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60652" y="4163690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31258" y="4130167"/>
            <a:ext cx="81335" cy="81335"/>
          </a:xfrm>
          <a:prstGeom prst="roundRect">
            <a:avLst>
              <a:gd name="adj" fmla="val 351325"/>
            </a:avLst>
          </a:prstGeom>
          <a:solidFill>
            <a:srgbClr val="4950BC"/>
          </a:solidFill>
          <a:ln/>
        </p:spPr>
      </p:sp>
      <p:sp>
        <p:nvSpPr>
          <p:cNvPr id="27" name="Shape 25"/>
          <p:cNvSpPr/>
          <p:nvPr/>
        </p:nvSpPr>
        <p:spPr>
          <a:xfrm>
            <a:off x="827336" y="3717950"/>
            <a:ext cx="3419029" cy="905768"/>
          </a:xfrm>
          <a:prstGeom prst="roundRect">
            <a:avLst>
              <a:gd name="adj" fmla="val 503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741" y="3831208"/>
            <a:ext cx="316036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5: Testing &amp; Integration (Post-April 2026)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0594" y="4050581"/>
            <a:ext cx="319251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Transitioned to comprehensive testing of 52 emails  using local SLMs provided by DTE and prepared a comprehensive evaluation report.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409798"/>
            <a:ext cx="3796754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— 7-Layer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692795"/>
            <a:ext cx="4021931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modular, independently scalable architecture ensuring extensibility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667991" y="899220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213" y="1072828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54572" y="983382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54572" y="1144786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OAuth 2.0 Gmail connection; auto-fetch every 10 mins with full thread and attachment capture.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667991" y="1454125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213" y="1627733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54572" y="1538288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4572" y="1699692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MIME parsing and structured SQLite persistence indexed by metadata for reliable retrieval.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667991" y="2009031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3213" y="2182639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4572" y="209319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Attachments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4572" y="2254597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text extraction (PDF/Word/Excel) with Gemini Vision OCR fallback for scanned content.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667991" y="2563937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3213" y="2737545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4572" y="264809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Triage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4572" y="2809503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15-category keyword + LLM classification; 7-level priority scoring with auto-escalation on 3+ follow-ups.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667991" y="3118842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3213" y="3292450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54572" y="3203004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Reply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54572" y="3364409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semantic search on policy documents; Gemini-generated replies with mandatory policy clause citations.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667991" y="3673748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3213" y="3847356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4572" y="3757910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Chatbot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54572" y="3919314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Tool-calling AI agent supporting read-only SQL queries, policy RAG, and system health summaries.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667991" y="4228654"/>
            <a:ext cx="336649" cy="504974"/>
          </a:xfrm>
          <a:prstGeom prst="roundRect">
            <a:avLst>
              <a:gd name="adj" fmla="val 3600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3213" y="4402262"/>
            <a:ext cx="1262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54572" y="4312816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54572" y="4474220"/>
            <a:ext cx="542143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dashboard for analytics charts, filterable tables, reply approvals, and policy management.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436513"/>
            <a:ext cx="2402235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97261" y="695697"/>
            <a:ext cx="14262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297" y="880318"/>
            <a:ext cx="3777332" cy="3826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904726"/>
            <a:ext cx="474099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Roboust, Scalable and AI-Driven Techology Choices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453902"/>
            <a:ext cx="1910209" cy="10702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7380" y="160801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07380" y="1947863"/>
            <a:ext cx="152578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18, TypeScript, Recharts, Nginx                                         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6964" y="1453902"/>
            <a:ext cx="1910209" cy="10702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27275" y="160801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27275" y="194786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FastAPI, Uvicorn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2652936"/>
            <a:ext cx="1910209" cy="12814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7380" y="2807047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LLM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07380" y="3146896"/>
            <a:ext cx="152578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Flash (Gemma fallback), Gemini Vision API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6964" y="2652936"/>
            <a:ext cx="1910209" cy="12814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27275" y="2807047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2727275" y="3146896"/>
            <a:ext cx="152578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OAuth 2.0, Fernet encryption, PyJWT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2540" y="1453902"/>
            <a:ext cx="1910209" cy="14925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52851" y="1608013"/>
            <a:ext cx="152578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Embeddings &amp; Vector Store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52851" y="2158975"/>
            <a:ext cx="152578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sentence-transformers (all-MiniLM-L6-v2), FAISS (IndexFlatIP)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42435" y="1453902"/>
            <a:ext cx="1910209" cy="14925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72746" y="160801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972746" y="1947863"/>
            <a:ext cx="152578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for structured, multi-tenant data persistence</a:t>
            </a:r>
            <a:endParaRPr lang="en-US" sz="10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2540" y="3075161"/>
            <a:ext cx="1910209" cy="149252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52851" y="322927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Parsing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952851" y="3569122"/>
            <a:ext cx="152578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pdfplumber, python-docx, openpyxl, pandas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2435" y="3075161"/>
            <a:ext cx="1910209" cy="149252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72746" y="3229273"/>
            <a:ext cx="152578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6972746" y="3569122"/>
            <a:ext cx="152578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On-premises containerized architecture; zero external cloud storage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925"/>
            <a:ext cx="349627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Discussion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11039"/>
            <a:ext cx="430783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Delivering a Secure, Intelligent and Scalable Platform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149251"/>
            <a:ext cx="86089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delivers measurable improvements across triage accuracy, policy compliance, user experience, and data security.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6119" y="1439094"/>
            <a:ext cx="2649959" cy="1661220"/>
          </a:xfrm>
          <a:prstGeom prst="roundRect">
            <a:avLst>
              <a:gd name="adj" fmla="val 3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464" y="1563439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138" y="1662113"/>
            <a:ext cx="161479" cy="1614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0464" y="20231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Triage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0464" y="2270522"/>
            <a:ext cx="240126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15-category classification and 4-tier priority assignment automated, with dynamic LLM upgrades for urgent or frustrated tones.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983" y="1439094"/>
            <a:ext cx="2649959" cy="1661220"/>
          </a:xfrm>
          <a:prstGeom prst="roundRect">
            <a:avLst>
              <a:gd name="adj" fmla="val 3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71329" y="1563439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0002" y="1662113"/>
            <a:ext cx="161479" cy="16147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1329" y="2023170"/>
            <a:ext cx="180037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Policy-Grounded Replies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71329" y="2270522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engine retrieves policy chunks and generates formally cited responses, eliminating manual PDF searches.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97848" y="1439094"/>
            <a:ext cx="2649959" cy="1661220"/>
          </a:xfrm>
          <a:prstGeom prst="roundRect">
            <a:avLst>
              <a:gd name="adj" fmla="val 30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2194" y="1563439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867" y="1662113"/>
            <a:ext cx="161479" cy="16147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2194" y="20231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Dashboard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22194" y="2270522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KPI cards, category charts, and filterable email tables replace previously disorganized shared mailboxes.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96119" y="3201219"/>
            <a:ext cx="4025354" cy="1545357"/>
          </a:xfrm>
          <a:prstGeom prst="roundRect">
            <a:avLst>
              <a:gd name="adj" fmla="val 325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0464" y="3325564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138" y="3424238"/>
            <a:ext cx="161479" cy="16147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0464" y="378529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Interface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20464" y="4032647"/>
            <a:ext cx="3776663" cy="589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850"/>
              </a:spcAft>
              <a:buNone/>
            </a:pP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Assistant handles grievance counts, status checks, and policy queries via plain language with 5-turn memory.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622378" y="3201219"/>
            <a:ext cx="4025429" cy="1545357"/>
          </a:xfrm>
          <a:prstGeom prst="roundRect">
            <a:avLst>
              <a:gd name="adj" fmla="val 325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46724" y="3325564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4950B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5397" y="3424238"/>
            <a:ext cx="161479" cy="16147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46724" y="3785295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Posture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746724" y="4032647"/>
            <a:ext cx="377673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On-premises data residency, zero external cloud storage, strictly scoped multi-tenant architecture, and robust audit trails.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424904"/>
            <a:ext cx="7183562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&amp; Categorization of Emails - Local SLM Evaluation Report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1228427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official grievance emails evaluated across 5 local SLMs (Qwen 3.5 4B, Llama 3.2 3B, Gemma 3 4B, Phi 4 Mini, Qwen 2.5 3B) on local Ollama for category routing (14 folders) and priority urgency (0–3).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0182" y="1631975"/>
            <a:ext cx="209200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Comparison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80182" y="1909316"/>
            <a:ext cx="7183562" cy="1483370"/>
          </a:xfrm>
          <a:prstGeom prst="roundRect">
            <a:avLst>
              <a:gd name="adj" fmla="val 294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945" y="1914079"/>
            <a:ext cx="7174037" cy="24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89273" y="1964680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85108" y="1964680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Acc.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78561" y="1964680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Acc. (Safeguarded)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72014" y="1964680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84945" y="2159719"/>
            <a:ext cx="7174037" cy="24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89273" y="2210321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3.5 4B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85108" y="2210321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82.69%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78561" y="2210321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96.15%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72014" y="2210321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7.62s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84945" y="2405360"/>
            <a:ext cx="7174037" cy="24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89273" y="2455962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3.2 3B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85108" y="2455962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59.62%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8561" y="2455962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90.38%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72014" y="2455962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4.26s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84945" y="2651001"/>
            <a:ext cx="7174037" cy="24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89273" y="2701603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Gemma 3 4B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85108" y="2701603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67.31%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78561" y="2701603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76.92%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72014" y="2701603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5.08s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84945" y="2896642"/>
            <a:ext cx="7174037" cy="245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89273" y="2947243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 4 Mini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85108" y="2947243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67.31%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78561" y="2947243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69.23%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72014" y="2947243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5.40s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4945" y="3142283"/>
            <a:ext cx="7174037" cy="2456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89273" y="3192884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2.5 3B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85108" y="3192884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46.15%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78561" y="3192884"/>
            <a:ext cx="203768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82.69%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72014" y="3192884"/>
            <a:ext cx="20400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3.05s</a:t>
            </a:r>
            <a:endParaRPr lang="en-US" sz="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895" y="3478634"/>
            <a:ext cx="2357810" cy="734169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41437" y="359702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 Overall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41437" y="3805535"/>
            <a:ext cx="206387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Qwen 3.5 4B leads with 80.77% overall accuracy.</a:t>
            </a:r>
            <a:endParaRPr lang="en-US" sz="8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5840" y="3478634"/>
            <a:ext cx="2357884" cy="734169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61383" y="359702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Fastest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3561383" y="3805535"/>
            <a:ext cx="206394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3.2 is fastest (~4.26s) with strong priority accuracy.</a:t>
            </a:r>
            <a:endParaRPr lang="en-US" sz="8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5860" y="3478634"/>
            <a:ext cx="2357884" cy="734169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981402" y="359702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Safeguards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981402" y="3805535"/>
            <a:ext cx="2063948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Rule-based safeguards boost priority accuracy (Qwen 2.5: +59.62%).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980182" y="4298752"/>
            <a:ext cx="7183562" cy="333896"/>
          </a:xfrm>
          <a:prstGeom prst="roundRect">
            <a:avLst>
              <a:gd name="adj" fmla="val 13096"/>
            </a:avLst>
          </a:prstGeom>
          <a:solidFill>
            <a:srgbClr val="B6D6FC"/>
          </a:solidFill>
          <a:ln/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287" y="4437683"/>
            <a:ext cx="130076" cy="10410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318468" y="4393481"/>
            <a:ext cx="719837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Recommendation: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Deploy Qwen 3.5 4B with safety rules; scale to 17B–31B models for improved routing.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044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Method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888132"/>
            <a:ext cx="484435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Accuracy, Security, and Full FRD Traceability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82675"/>
            <a:ext cx="332259" cy="3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770683"/>
            <a:ext cx="203790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 Traceability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6119" y="2053084"/>
            <a:ext cx="2613422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mapping of all 10 FRD requirements to specific code modules and UI features.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5289" y="1282675"/>
            <a:ext cx="332259" cy="332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5289" y="177068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Validation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65289" y="2053084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Fernet encryption, HTTP-only signed cookies, and multi-tenant DB isolation against cross-tenant data leakage.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460" y="1282675"/>
            <a:ext cx="332259" cy="3322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4460" y="177068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Guardrails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34460" y="2053084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Agent tested for strict read-only enforcement — blocking DELETE, UPDATE, and DROP operations with auto-injected user filters.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26135"/>
            <a:ext cx="332259" cy="3322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61414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Accuracy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96119" y="3896544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semantic relevance evaluated; mandatory policy clause citations (e.g., "As per Clause EXM-01") verified in all generated replies.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5289" y="3126135"/>
            <a:ext cx="332259" cy="3322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5289" y="3614142"/>
            <a:ext cx="21379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&amp; Rate Limits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265289" y="3896544"/>
            <a:ext cx="261342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 locks monitored: 1 Gemini call/min and 50 Gmail calls/min ceiling with background worker concurrency tracking.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409129"/>
            <a:ext cx="4791224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Installation &amp; Deployment Process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764977"/>
            <a:ext cx="4218980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Setup Guide for Local &amp; Production Environments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0182" y="1042318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80182" y="1204838"/>
            <a:ext cx="234352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980182" y="1285429"/>
            <a:ext cx="183073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Requirements Check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0182" y="1493937"/>
            <a:ext cx="2343522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 compatible OS (Windows/Linux/macOS), at least 8 GB RAM, sufficient storage space, optional GPU support, and a stable internet connection.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00127" y="1042318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00127" y="1204838"/>
            <a:ext cx="234359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400127" y="1285429"/>
            <a:ext cx="162914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Configure Cloud Services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00127" y="1493937"/>
            <a:ext cx="2343596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Google Cloud or Microsoft Azure APIs, generate OAuth 2.0 credentials, create Google Gemini API keys, and configure service account permissions.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20147" y="1042318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20147" y="1204838"/>
            <a:ext cx="234359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5820147" y="1285429"/>
            <a:ext cx="154937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Native Installation Setup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20147" y="1493937"/>
            <a:ext cx="2343596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Python virtual environment, install dependencies from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configure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variables with API keys, and optionally set up Ollama for local AI models.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80182" y="2226171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80182" y="2388691"/>
            <a:ext cx="234352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80182" y="2469282"/>
            <a:ext cx="1715542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 Application Locally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0182" y="2677790"/>
            <a:ext cx="2343522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backend server with Uvicorn on port 8000, launch the frontend with the Node.js dev server on port 5173, then access the dashboard in your browser.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0127" y="2226171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00127" y="2388691"/>
            <a:ext cx="234359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3400127" y="2469282"/>
            <a:ext cx="163673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Initialize Semantic 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0127" y="2677790"/>
            <a:ext cx="2343596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local FAISS index from policy documents using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embeddings to enable AI-powered policy retrieval and RAG functionality.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20147" y="2226171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20147" y="2388691"/>
            <a:ext cx="234359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5820147" y="2469282"/>
            <a:ext cx="226211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Optional Containerized 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20147" y="2677790"/>
            <a:ext cx="2343596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Docker Compose to deploy the backend, database, worker, and frontend containers for a production-ready environment.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0182" y="3410024"/>
            <a:ext cx="208211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80182" y="3572545"/>
            <a:ext cx="7183562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980182" y="3653135"/>
            <a:ext cx="202145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&amp; Troubleshooting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0182" y="3861643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database backups, monitor environment variables, resolve OAuth and dependency issues, and maintain FAISS indexes for optimal performance.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80182" y="4314527"/>
            <a:ext cx="7183562" cy="333896"/>
          </a:xfrm>
          <a:prstGeom prst="roundRect">
            <a:avLst>
              <a:gd name="adj" fmla="val 13096"/>
            </a:avLst>
          </a:prstGeom>
          <a:solidFill>
            <a:srgbClr val="B6FCB8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287" y="4453458"/>
            <a:ext cx="130076" cy="10410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18468" y="4409256"/>
            <a:ext cx="719837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Outcome: Fully configured AI grievance management system running successfully on local or production infrastructure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154"/>
            <a:ext cx="4871591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95660" y="1162273"/>
            <a:ext cx="4106614" cy="3461072"/>
          </a:xfrm>
          <a:prstGeom prst="roundRect">
            <a:avLst>
              <a:gd name="adj" fmla="val 2903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535186" y="1299642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186" y="1655043"/>
            <a:ext cx="3827562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transforms the Department of Education's email processing from a manual, unstructured workflow into an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secure, and policy-compliant pipeline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Full FRD traceability, multi-tenant isolation, and RAG-powered citations ensure accountability and speed in public grievance redressal.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6947" y="1299642"/>
            <a:ext cx="247456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for Expansion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6947" y="1655043"/>
            <a:ext cx="43628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9261" y="2035262"/>
            <a:ext cx="209327" cy="2093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00427" y="2030983"/>
            <a:ext cx="227171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Plug-and-Play Onboarding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00427" y="2386385"/>
            <a:ext cx="3452217" cy="100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government department can onboard via simple Google account connection —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code changes required</a:t>
            </a:r>
            <a:pPr algn="l" indent="0" marL="0">
              <a:lnSpc>
                <a:spcPct val="132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9261" y="3674827"/>
            <a:ext cx="209327" cy="2093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0427" y="367054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Interoperability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200427" y="4025950"/>
            <a:ext cx="345221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government-approved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LLMs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enhanced data privacy and sovereign AI compliance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2026-06-21T20:19:02Z</dcterms:created>
  <dcterms:modified xsi:type="dcterms:W3CDTF">2026-06-21T20:19:02Z</dcterms:modified>
</cp:coreProperties>
</file>